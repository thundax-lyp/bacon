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0312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8056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5800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640080"/>
            <a:ext cx="1005840" cy="5577840"/>
          </a:xfrm>
          <a:prstGeom prst="line">
            <a:avLst/>
          </a:prstGeom>
          <a:ln w="5080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1005840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1920240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" y="2834640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" y="3749039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" y="4663440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" y="5577840"/>
            <a:ext cx="10698480" cy="0"/>
          </a:xfrm>
          <a:prstGeom prst="line">
            <a:avLst/>
          </a:prstGeom>
          <a:ln w="4445">
            <a:solidFill>
              <a:srgbClr val="5B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38160" y="960120"/>
            <a:ext cx="822960" cy="822960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978408"/>
            <a:ext cx="8229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0" y="2331720"/>
            <a:ext cx="685800" cy="685800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50008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DOC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3474720"/>
            <a:ext cx="685800" cy="685800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493008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CODE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0" y="4434840"/>
            <a:ext cx="685800" cy="685800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453127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49640" y="1371600"/>
            <a:ext cx="1097280" cy="1280160"/>
          </a:xfrm>
          <a:prstGeom prst="line">
            <a:avLst/>
          </a:prstGeom>
          <a:ln w="27940">
            <a:solidFill>
              <a:srgbClr val="1A9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15200" y="2651760"/>
            <a:ext cx="2331720" cy="1170431"/>
          </a:xfrm>
          <a:prstGeom prst="line">
            <a:avLst/>
          </a:prstGeom>
          <a:ln w="27940">
            <a:solidFill>
              <a:srgbClr val="ECB1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3822191"/>
            <a:ext cx="2880360" cy="950977"/>
          </a:xfrm>
          <a:prstGeom prst="line">
            <a:avLst/>
          </a:prstGeom>
          <a:ln w="27940">
            <a:solidFill>
              <a:srgbClr val="4F7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1143000"/>
            <a:ext cx="63093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Microsoft YaHei"/>
              </a:rPr>
              <a:t>面向 AI Agent 的
工程操作系统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971800"/>
            <a:ext cx="5440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DE3EA"/>
                </a:solidFill>
                <a:latin typeface="Microsoft YaHei"/>
              </a:rPr>
              <a:t>项目组织、目录、代码、文档与 Git 历史交织成一个可执行的立体工程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069080"/>
            <a:ext cx="2560320" cy="329184"/>
          </a:xfrm>
          <a:prstGeom prst="round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1937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Bacon Project Structure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一句话判断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这不是“代码仓库 + 文档”，而是一套让 AI 稳定参与工程的操作系统。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5074920" cy="4069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B22"/>
                </a:solidFill>
                <a:latin typeface="Microsoft YaHei"/>
              </a:rPr>
              <a:t>传统工程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395728"/>
            <a:ext cx="256032" cy="256032"/>
          </a:xfrm>
          <a:prstGeom prst="ellipse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36829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</a:rPr>
              <a:t>人理解上下文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054096"/>
            <a:ext cx="256032" cy="256032"/>
          </a:xfrm>
          <a:prstGeom prst="ellipse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026663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</a:rPr>
              <a:t>人决定代码位置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712464"/>
            <a:ext cx="256032" cy="256032"/>
          </a:xfrm>
          <a:prstGeom prst="ellipse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85031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</a:rPr>
              <a:t>人维护规则一致性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370832"/>
            <a:ext cx="256032" cy="256032"/>
          </a:xfrm>
          <a:prstGeom prst="ellipse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34340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</a:rPr>
              <a:t>Git 记录最终结果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08760"/>
            <a:ext cx="5074920" cy="406908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783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AI-Native 工程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2395728"/>
            <a:ext cx="256032" cy="256032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6829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文档路由上下文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3054096"/>
            <a:ext cx="256032" cy="256032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026663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目录限定落点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3712464"/>
            <a:ext cx="256032" cy="256032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685031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模块约束依赖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4370832"/>
            <a:ext cx="256032" cy="256032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34340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Commit 固化历史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3520440"/>
            <a:ext cx="228600" cy="0"/>
          </a:xfrm>
          <a:prstGeom prst="line">
            <a:avLst/>
          </a:prstGeom>
          <a:ln w="50800">
            <a:solidFill>
              <a:srgbClr val="1A9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立体结构：五层交织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每一层都不孤立，组合起来构成 AI Agent 的执行环境。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969264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371600"/>
            <a:ext cx="347472" cy="347472"/>
          </a:xfrm>
          <a:prstGeom prst="ellipse">
            <a:avLst/>
          </a:prstGeom>
          <a:solidFill>
            <a:srgbClr val="D3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8988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3716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人类判断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807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方向、取舍、验收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2148840"/>
            <a:ext cx="8924544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1328" y="2286000"/>
            <a:ext cx="347472" cy="347472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230428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860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文档系统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2951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规则、需求、上下文路由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2495" y="3063240"/>
            <a:ext cx="815644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65376" y="3200400"/>
            <a:ext cx="347472" cy="347472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5376" y="321868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2004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目录结构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2095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行动地图、职责边界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66543" y="3977639"/>
            <a:ext cx="7388352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4114800"/>
            <a:ext cx="347472" cy="347472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9424" y="4133087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41148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代码结构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3" y="41239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分层依赖、运行逻辑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591" y="4892040"/>
            <a:ext cx="6620256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33472" y="5029200"/>
            <a:ext cx="347472" cy="347472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3472" y="504748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0292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Git 历史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50383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审计、交付、完成事实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文档不是说明书，是控制系统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`docs/AGENT.md` 定义 AI 读取路径，治理文档定义执行红线。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972800" cy="4480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48840"/>
            <a:ext cx="621792" cy="621792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6712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1B22"/>
                </a:solidFill>
                <a:latin typeface="Microsoft YaHei"/>
              </a:rPr>
              <a:t>AGENT.md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3310128"/>
            <a:ext cx="16276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775"/>
                </a:solidFill>
                <a:latin typeface="Microsoft YaHei"/>
              </a:rPr>
              <a:t>入口协议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2459736"/>
            <a:ext cx="822960" cy="0"/>
          </a:xfrm>
          <a:prstGeom prst="line">
            <a:avLst/>
          </a:prstGeom>
          <a:ln w="3048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108960" y="2148840"/>
            <a:ext cx="621792" cy="621792"/>
          </a:xfrm>
          <a:prstGeom prst="ellipse">
            <a:avLst/>
          </a:prstGeom>
          <a:solidFill>
            <a:srgbClr val="D3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6712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9718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1B22"/>
                </a:solidFill>
                <a:latin typeface="Microsoft YaHei"/>
              </a:rPr>
              <a:t>ARCHITECTURE.md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310128"/>
            <a:ext cx="16276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775"/>
                </a:solidFill>
                <a:latin typeface="Microsoft YaHei"/>
              </a:rPr>
              <a:t>实现红线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7328" y="2459736"/>
            <a:ext cx="822960" cy="0"/>
          </a:xfrm>
          <a:prstGeom prst="line">
            <a:avLst/>
          </a:prstGeom>
          <a:ln w="3048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66360" y="2148840"/>
            <a:ext cx="621792" cy="621792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16712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1B22"/>
                </a:solidFill>
                <a:latin typeface="Microsoft YaHei"/>
              </a:rP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10128"/>
            <a:ext cx="16276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775"/>
                </a:solidFill>
                <a:latin typeface="Microsoft YaHei"/>
              </a:rPr>
              <a:t>业务口径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4728" y="2459736"/>
            <a:ext cx="822960" cy="0"/>
          </a:xfrm>
          <a:prstGeom prst="line">
            <a:avLst/>
          </a:prstGeom>
          <a:ln w="3048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223760" y="2148840"/>
            <a:ext cx="621792" cy="621792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16712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718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1B22"/>
                </a:solidFill>
                <a:latin typeface="Microsoft YaHei"/>
              </a:rPr>
              <a:t>Database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310128"/>
            <a:ext cx="16276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775"/>
                </a:solidFill>
                <a:latin typeface="Microsoft YaHei"/>
              </a:rPr>
              <a:t>数据事实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82128" y="2459736"/>
            <a:ext cx="822960" cy="0"/>
          </a:xfrm>
          <a:prstGeom prst="line">
            <a:avLst/>
          </a:prstGeom>
          <a:ln w="3048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281160" y="2148840"/>
            <a:ext cx="621792" cy="621792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16712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9718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1B22"/>
                </a:solidFill>
                <a:latin typeface="Microsoft YaHei"/>
              </a:rPr>
              <a:t>Naming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310128"/>
            <a:ext cx="16276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B6775"/>
                </a:solidFill>
                <a:latin typeface="Microsoft YaHei"/>
              </a:rPr>
              <a:t>落点判断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709160"/>
            <a:ext cx="9601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1B22"/>
                </a:solidFill>
                <a:latin typeface="Microsoft YaHei"/>
              </a:rPr>
              <a:t>创新点：不仅规定“读什么”，还规定“什么时候读”和“不要默认读什么”。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代码目录就是 AI 的行动地图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固定五层减少自由发挥，把生成行为压进可预测轨道。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08760"/>
            <a:ext cx="18288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828800" cy="164592"/>
          </a:xfrm>
          <a:prstGeom prst="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0195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1B22"/>
                </a:solidFill>
                <a:latin typeface="Microsoft YaHe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61488"/>
            <a:ext cx="1389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5B6775"/>
                </a:solidFill>
                <a:latin typeface="Microsoft YaHei"/>
              </a:rPr>
              <a:t>跨域契约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A988C"/>
                </a:solidFill>
                <a:latin typeface="Microsoft YaHei"/>
              </a:rPr>
              <a:t>bacon-*-api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08760"/>
            <a:ext cx="18288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508760"/>
            <a:ext cx="1828800" cy="164592"/>
          </a:xfrm>
          <a:prstGeom prst="rect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90195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1B22"/>
                </a:solidFill>
                <a:latin typeface="Microsoft YaHei"/>
              </a:rPr>
              <a:t>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761488"/>
            <a:ext cx="1389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5B6775"/>
                </a:solidFill>
                <a:latin typeface="Microsoft YaHei"/>
              </a:rPr>
              <a:t>HTTP / Provider / Local Facade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4343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ECB14B"/>
                </a:solidFill>
                <a:latin typeface="Microsoft YaHei"/>
              </a:rPr>
              <a:t>bacon-*-interfaces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508760"/>
            <a:ext cx="18288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1508760"/>
            <a:ext cx="1828800" cy="164592"/>
          </a:xfrm>
          <a:prstGeom prst="rect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190195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1B22"/>
                </a:solidFill>
                <a:latin typeface="Microsoft YaHei"/>
              </a:rP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761488"/>
            <a:ext cx="1389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5B6775"/>
                </a:solidFill>
                <a:latin typeface="Microsoft YaHei"/>
              </a:rPr>
              <a:t>用例编排与事务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4343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F7BD8"/>
                </a:solidFill>
                <a:latin typeface="Microsoft YaHei"/>
              </a:rPr>
              <a:t>bacon-*-application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1508760"/>
            <a:ext cx="18288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0" y="1508760"/>
            <a:ext cx="1828800" cy="164592"/>
          </a:xfrm>
          <a:prstGeom prst="rect">
            <a:avLst/>
          </a:prstGeom>
          <a:solidFill>
            <a:srgbClr val="D3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90195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1B22"/>
                </a:solidFill>
                <a:latin typeface="Microsoft YaHei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761488"/>
            <a:ext cx="1389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5B6775"/>
                </a:solidFill>
                <a:latin typeface="Microsoft YaHei"/>
              </a:rPr>
              <a:t>业务规则与仓储接口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4343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35852"/>
                </a:solidFill>
                <a:latin typeface="Microsoft YaHei"/>
              </a:rPr>
              <a:t>bacon-*-domain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508760"/>
            <a:ext cx="18288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1508760"/>
            <a:ext cx="1828800" cy="164592"/>
          </a:xfrm>
          <a:prstGeom prst="rect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190195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1B22"/>
                </a:solidFill>
                <a:latin typeface="Microsoft YaHei"/>
              </a:rPr>
              <a:t>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2761488"/>
            <a:ext cx="1389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5B6775"/>
                </a:solidFill>
                <a:latin typeface="Microsoft YaHei"/>
              </a:rPr>
              <a:t>持久化与外部集成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4343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A572"/>
                </a:solidFill>
                <a:latin typeface="Microsoft YaHei"/>
              </a:rPr>
              <a:t>bacon-*-infra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运行装配：一份业务，两种形态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`bacon-app` 把同一套业务代码装配成单体或微服务。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5120640" cy="43434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Mono Boot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DE3EA"/>
                </a:solidFill>
                <a:latin typeface="Microsoft YaHei"/>
              </a:rPr>
              <a:t>bacon-mono-boot 聚合所有业务域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80360"/>
            <a:ext cx="1600200" cy="329184"/>
          </a:xfrm>
          <a:prstGeom prst="round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306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880360"/>
            <a:ext cx="1600200" cy="329184"/>
          </a:xfrm>
          <a:prstGeom prst="roundRect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93065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upms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600200" cy="329184"/>
          </a:xfrm>
          <a:prstGeom prst="roundRect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3357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383280"/>
            <a:ext cx="1600200" cy="329184"/>
          </a:xfrm>
          <a:prstGeom prst="roundRect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343357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86200"/>
            <a:ext cx="1600200" cy="329184"/>
          </a:xfrm>
          <a:prstGeom prst="round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6491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886200"/>
            <a:ext cx="1600200" cy="329184"/>
          </a:xfrm>
          <a:prstGeom prst="roundRect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936491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389120"/>
            <a:ext cx="1600200" cy="329184"/>
          </a:xfrm>
          <a:prstGeom prst="roundRect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3941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5120640" cy="4343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1B22"/>
                </a:solidFill>
                <a:latin typeface="Microsoft YaHei"/>
              </a:rPr>
              <a:t>Micro Starters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</a:rPr>
              <a:t>每个 starter 装配本域五层与公共能力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852928"/>
            <a:ext cx="3108960" cy="347472"/>
          </a:xfrm>
          <a:prstGeom prst="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2926080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order-starter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3419856"/>
            <a:ext cx="3108960" cy="347472"/>
          </a:xfrm>
          <a:prstGeom prst="rect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349300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inventory-starter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986784"/>
            <a:ext cx="3108960" cy="347472"/>
          </a:xfrm>
          <a:prstGeom prst="rect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405993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payment-starter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4553712"/>
            <a:ext cx="3108960" cy="347472"/>
          </a:xfrm>
          <a:prstGeom prst="rect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4626864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Git 是时间轴，不是附属品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TODO 只保存待执行任务；完成历史固定进入 commit / PR。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77724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1B22"/>
                </a:solidFill>
                <a:latin typeface="Microsoft YaHei"/>
              </a:rPr>
              <a:t>TODO.md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52044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B6775"/>
                </a:solidFill>
                <a:latin typeface="Microsoft YaHei"/>
              </a:rPr>
              <a:t>当前队列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55648" y="2587752"/>
            <a:ext cx="1033272" cy="0"/>
          </a:xfrm>
          <a:prstGeom prst="line">
            <a:avLst/>
          </a:prstGeom>
          <a:ln w="381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657600" y="2194560"/>
            <a:ext cx="777240" cy="777240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12848"/>
            <a:ext cx="77724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1B22"/>
                </a:solidFill>
                <a:latin typeface="Microsoft YaHei"/>
              </a:rPr>
              <a:t>AI 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52044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B6775"/>
                </a:solidFill>
                <a:latin typeface="Microsoft YaHei"/>
              </a:rPr>
              <a:t>代码与测试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98848" y="2587752"/>
            <a:ext cx="1033272" cy="0"/>
          </a:xfrm>
          <a:prstGeom prst="line">
            <a:avLst/>
          </a:prstGeom>
          <a:ln w="381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0" y="2194560"/>
            <a:ext cx="777240" cy="777240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77724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1B22"/>
                </a:solidFill>
                <a:latin typeface="Microsoft YaHei"/>
              </a:rP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52044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B6775"/>
                </a:solidFill>
                <a:latin typeface="Microsoft YaHei"/>
              </a:rPr>
              <a:t>完成事实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42048" y="2587752"/>
            <a:ext cx="1033272" cy="0"/>
          </a:xfrm>
          <a:prstGeom prst="line">
            <a:avLst/>
          </a:prstGeom>
          <a:ln w="3810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0" y="2194560"/>
            <a:ext cx="777240" cy="777240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12848"/>
            <a:ext cx="77724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1B22"/>
                </a:solidFill>
                <a:latin typeface="Microsoft YaHei"/>
              </a:rPr>
              <a:t>PR /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52044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B6775"/>
                </a:solidFill>
                <a:latin typeface="Microsoft YaHei"/>
              </a:rPr>
              <a:t>审计与验证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800600"/>
            <a:ext cx="973836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61B22"/>
                </a:solidFill>
                <a:latin typeface="Microsoft YaHei"/>
              </a:rPr>
              <a:t>Commit 格式：Type(domain): 中文说明，要求说明具体能力变化。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1B22"/>
                </a:solidFill>
                <a:latin typeface="Microsoft YaHei"/>
              </a:rPr>
              <a:t>AI 创新点：从提示词到工程制度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875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这个项目把 AI 协作嵌入了仓库结构，而不是停留在聊天窗口。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36776"/>
            <a:ext cx="384048" cy="384048"/>
          </a:xfrm>
          <a:prstGeom prst="ellipse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550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6367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上下文路由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03911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按任务加载最小文档，减少噪声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173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59" y="1636776"/>
            <a:ext cx="384048" cy="384048"/>
          </a:xfrm>
          <a:prstGeom prst="ellipse">
            <a:avLst/>
          </a:prstGeom>
          <a:solidFill>
            <a:srgbClr val="D3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6550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367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架构红线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03911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把不可越界规则写成可执行约束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636776"/>
            <a:ext cx="384048" cy="384048"/>
          </a:xfrm>
          <a:prstGeom prst="ellipse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550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6367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固定落点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03911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目录和包名直接指导代码生成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2461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465576"/>
            <a:ext cx="384048" cy="384048"/>
          </a:xfrm>
          <a:prstGeom prst="ellipse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838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4655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反误改设计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867911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通过规则避免跨层调用和错误抽象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32461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59" y="3465576"/>
            <a:ext cx="384048" cy="384048"/>
          </a:xfrm>
          <a:prstGeom prst="ellipse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34838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4655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历史闭环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67911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TODO、测试、commit 共同定义完成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3246120"/>
            <a:ext cx="315468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3465576"/>
            <a:ext cx="384048" cy="384048"/>
          </a:xfrm>
          <a:prstGeom prst="ellipse">
            <a:avLst/>
          </a:prstGeom>
          <a:solidFill>
            <a:srgbClr val="5B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48386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34655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Microsoft YaHei"/>
              </a:rPr>
              <a:t>双形态装配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3688" y="3867911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Microsoft YaHei"/>
              </a:rPr>
              <a:t>业务代码同时服务单体与微服务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961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最终定义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面向 AI Agent 的工程操作系统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606040"/>
            <a:ext cx="9646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3EA"/>
                </a:solidFill>
                <a:latin typeface="Microsoft YaHei"/>
              </a:rPr>
              <a:t>不是让 AI “自由写代码”，而是用文档、目录、模块、测试和 Git
构造一个可读取、可执行、可审计、可持续演进的工程环境。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069080"/>
            <a:ext cx="1325880" cy="329184"/>
          </a:xfrm>
          <a:prstGeom prst="roundRect">
            <a:avLst/>
          </a:prstGeom>
          <a:solidFill>
            <a:srgbClr val="1A9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1193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可读取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069080"/>
            <a:ext cx="1325880" cy="329184"/>
          </a:xfrm>
          <a:prstGeom prst="roundRect">
            <a:avLst/>
          </a:prstGeom>
          <a:solidFill>
            <a:srgbClr val="EC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41193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可执行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1325880" cy="329184"/>
          </a:xfrm>
          <a:prstGeom prst="roundRect">
            <a:avLst/>
          </a:prstGeom>
          <a:solidFill>
            <a:srgbClr val="4F7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1193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可审计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069080"/>
            <a:ext cx="1325880" cy="329184"/>
          </a:xfrm>
          <a:prstGeom prst="roundRect">
            <a:avLst/>
          </a:prstGeom>
          <a:solidFill>
            <a:srgbClr val="49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193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可演进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21208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人类负责判断，AI 负责执行，工程结构负责让执行不散。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AI Agent 的工程操作系统</dc:title>
  <dc:subject>Bacon 项目结构分析总结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